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574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D4A574"/>
                </a:solidFill>
              </a:defRPr>
            </a:pPr>
            <a:r>
              <a:t>LIFEXTREME PREMIUM ADVENTURES</a:t>
            </a:r>
          </a:p>
          <a:p>
            <a:pPr>
              <a:spcAft>
                <a:spcPts val="1000"/>
              </a:spcAft>
              <a:defRPr b="1" sz="4000">
                <a:solidFill>
                  <a:srgbClr val="FFFFFF"/>
                </a:solidFill>
              </a:defRPr>
            </a:pPr>
            <a:r>
              <a:t>Atardecer en el Valle Sagrado</a:t>
            </a:r>
          </a:p>
          <a:p>
            <a:pPr>
              <a:spcAft>
                <a:spcPts val="2500"/>
              </a:spcAft>
              <a:defRPr sz="2200">
                <a:solidFill>
                  <a:srgbClr val="D4A574"/>
                </a:solidFill>
              </a:defRPr>
            </a:pPr>
            <a:r>
              <a:t>Moray &amp; Salineras de Maras con Tea Time &amp; Brindis Andino</a:t>
            </a:r>
          </a:p>
          <a:p>
            <a:pPr>
              <a:defRPr sz="1400">
                <a:solidFill>
                  <a:srgbClr val="C8D2E1"/>
                </a:solidFill>
              </a:defRPr>
            </a:pPr>
            <a:r>
              <a:t>Propuesta Comercial para Grupo de 50 Pasajeros | Fecha: 01 de Septiembre | Urubamba, Cusco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D4A574"/>
                </a:solidFill>
              </a:defRPr>
            </a:pPr>
            <a:r>
              <a:t>Resumen de la Experiencia</a:t>
            </a:r>
          </a:p>
          <a:p>
            <a:pPr>
              <a:defRPr sz="1400">
                <a:solidFill>
                  <a:srgbClr val="C8D2E1"/>
                </a:solidFill>
              </a:defRPr>
            </a:pPr>
            <a:r>
              <a:t>Diseñado para el día de llegada: Aclimatación suave, relajación y paisajes impresionantes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C2438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800">
                <a:solidFill>
                  <a:srgbClr val="D4A574"/>
                </a:solidFill>
              </a:defRPr>
            </a:pPr>
            <a:r>
              <a:t>🌸 Aclimatación Suave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Caminatas ligeras a tu propio ritmo. Ideal para adaptarse a la altitud del Valle Sagrado sin esfuerzo físico.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C2438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800">
                <a:solidFill>
                  <a:srgbClr val="D4A574"/>
                </a:solidFill>
              </a:defRPr>
            </a:pPr>
            <a:r>
              <a:t>📸 Paisajes Increíbles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Visita a las terrazas circulares de Moray y a las milenarias pozas de sal rosada de Maras durante la hora dorada.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C2438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800">
                <a:solidFill>
                  <a:srgbClr val="D4A574"/>
                </a:solidFill>
              </a:defRPr>
            </a:pPr>
            <a:r>
              <a:t>☕ Experiencia Tea Time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Pausa reconfortante en mirador privado con infusiones andinas digestivas, snacks locales y brindis de bienvenida.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D4A574"/>
                </a:solidFill>
              </a:defRPr>
            </a:pPr>
            <a:r>
              <a:t>Itinerario Detallado (14:00 hrs – 19:00 hrs)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011680" cy="731520"/>
          </a:xfrm>
          <a:prstGeom prst="roundRect">
            <a:avLst/>
          </a:prstGeom>
          <a:solidFill>
            <a:srgbClr val="D4A574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21826"/>
                </a:solidFill>
              </a:defRPr>
            </a:pPr>
            <a:r>
              <a:t>14:00 hrs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463040"/>
            <a:ext cx="8503920" cy="731520"/>
          </a:xfrm>
          <a:prstGeom prst="roundRect">
            <a:avLst/>
          </a:prstGeom>
          <a:solidFill>
            <a:srgbClr val="1C2438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D4A574"/>
                </a:solidFill>
              </a:defRPr>
            </a:pPr>
            <a:r>
              <a:t>Recojo en Hotel (Urubamba) — </a:t>
            </a:r>
            <a:r>
              <a:rPr b="0" sz="1300">
                <a:solidFill>
                  <a:srgbClr val="FFFFFF"/>
                </a:solidFill>
              </a:rPr>
              <a:t>Recepción en 2 buses Coaster exclusivos con atención personalizada.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2011680" cy="731520"/>
          </a:xfrm>
          <a:prstGeom prst="roundRect">
            <a:avLst/>
          </a:prstGeom>
          <a:solidFill>
            <a:srgbClr val="D4A574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21826"/>
                </a:solidFill>
              </a:defRPr>
            </a:pPr>
            <a:r>
              <a:t>14:30 hrs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423160"/>
            <a:ext cx="8503920" cy="731520"/>
          </a:xfrm>
          <a:prstGeom prst="roundRect">
            <a:avLst/>
          </a:prstGeom>
          <a:solidFill>
            <a:srgbClr val="1C2438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D4A574"/>
                </a:solidFill>
              </a:defRPr>
            </a:pPr>
            <a:r>
              <a:t>Laboratorio Inca de Moray — </a:t>
            </a:r>
            <a:r>
              <a:rPr b="0" sz="1300">
                <a:solidFill>
                  <a:srgbClr val="FFFFFF"/>
                </a:solidFill>
              </a:rPr>
              <a:t>Recorrido guiado relajado por los impresionantes andenes circulares.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2011680" cy="731520"/>
          </a:xfrm>
          <a:prstGeom prst="roundRect">
            <a:avLst/>
          </a:prstGeom>
          <a:solidFill>
            <a:srgbClr val="D4A574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21826"/>
                </a:solidFill>
              </a:defRPr>
            </a:pPr>
            <a:r>
              <a:t>16:00 hrs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3383280"/>
            <a:ext cx="8503920" cy="731520"/>
          </a:xfrm>
          <a:prstGeom prst="roundRect">
            <a:avLst/>
          </a:prstGeom>
          <a:solidFill>
            <a:srgbClr val="1C2438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D4A574"/>
                </a:solidFill>
              </a:defRPr>
            </a:pPr>
            <a:r>
              <a:t>Salineras de Maras — </a:t>
            </a:r>
            <a:r>
              <a:rPr b="0" sz="1300">
                <a:solidFill>
                  <a:srgbClr val="FFFFFF"/>
                </a:solidFill>
              </a:rPr>
              <a:t>Vista panorámica de las 3,000+ pozas de sal rosada y tiempo de fotos.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2011680" cy="731520"/>
          </a:xfrm>
          <a:prstGeom prst="roundRect">
            <a:avLst/>
          </a:prstGeom>
          <a:solidFill>
            <a:srgbClr val="D4A574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21826"/>
                </a:solidFill>
              </a:defRPr>
            </a:pPr>
            <a:r>
              <a:t>17:15 hrs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4343400"/>
            <a:ext cx="8503920" cy="731520"/>
          </a:xfrm>
          <a:prstGeom prst="roundRect">
            <a:avLst/>
          </a:prstGeom>
          <a:solidFill>
            <a:srgbClr val="1C2438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D4A574"/>
                </a:solidFill>
              </a:defRPr>
            </a:pPr>
            <a:r>
              <a:t>Tea Time &amp; Brindis Andino — </a:t>
            </a:r>
            <a:r>
              <a:rPr b="0" sz="1300">
                <a:solidFill>
                  <a:srgbClr val="FFFFFF"/>
                </a:solidFill>
              </a:rPr>
              <a:t>Pausa en mirador privado con mates de muña/coca, snacks y copa de bienvenida.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2011680" cy="731520"/>
          </a:xfrm>
          <a:prstGeom prst="roundRect">
            <a:avLst/>
          </a:prstGeom>
          <a:solidFill>
            <a:srgbClr val="D4A574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21826"/>
                </a:solidFill>
              </a:defRPr>
            </a:pPr>
            <a:r>
              <a:t>18:30 - 19:00 hrs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5303520"/>
            <a:ext cx="8503920" cy="731520"/>
          </a:xfrm>
          <a:prstGeom prst="roundRect">
            <a:avLst/>
          </a:prstGeom>
          <a:solidFill>
            <a:srgbClr val="1C2438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D4A574"/>
                </a:solidFill>
              </a:defRPr>
            </a:pPr>
            <a:r>
              <a:t>Retorno al Hotel — </a:t>
            </a:r>
            <a:r>
              <a:rPr b="0" sz="1300">
                <a:solidFill>
                  <a:srgbClr val="FFFFFF"/>
                </a:solidFill>
              </a:rPr>
              <a:t>Viaje con vistas al atardecer sobre los nevados y llegada a Urubamba.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D4A574"/>
                </a:solidFill>
              </a:defRPr>
            </a:pPr>
            <a:r>
              <a:t>Servicios Incluidos &amp; Garantía Lifextreme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438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800">
                <a:solidFill>
                  <a:srgbClr val="D4A574"/>
                </a:solidFill>
              </a:defRPr>
            </a:pPr>
            <a:r>
              <a:t>Logística &amp; Guiado (2 Buses)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✔ 2 Buses Turísticos Coaster exclusivos (AC + Balón de oxígeno)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✔ 2 Guías Oficiales Bilingües (1 guía dedicado por bus)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✔ Boletos de ingreso completo a Moray y Salineras de Maras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C2438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800">
                <a:solidFill>
                  <a:srgbClr val="D4A574"/>
                </a:solidFill>
              </a:defRPr>
            </a:pPr>
            <a:r>
              <a:t>Experiencia &amp; Entradas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✔ Experiencia Tea Time: Mates digestivos + Snacks artesanales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✔ Brindis de Bienvenida al atardecer en mirador privado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✔ Asistencia y coordinación logística en tiempo real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D4A574"/>
                </a:solidFill>
              </a:defRPr>
            </a:pPr>
            <a:r>
              <a:t>Inversión Comercial (Incluye IGV 18%)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2103120"/>
          </a:xfrm>
          <a:prstGeom prst="roundRect">
            <a:avLst/>
          </a:prstGeom>
          <a:solidFill>
            <a:srgbClr val="1C2438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2000">
                <a:solidFill>
                  <a:srgbClr val="D4A574"/>
                </a:solidFill>
              </a:defRPr>
            </a:pPr>
            <a:r>
              <a:t>PRECIO POR PERSONA:  USD $65.00 + IGV ($11.70) = USD $76.70</a:t>
            </a:r>
          </a:p>
          <a:p>
            <a:pPr algn="ctr">
              <a:defRPr b="1" sz="2600">
                <a:solidFill>
                  <a:srgbClr val="FFFFFF"/>
                </a:solidFill>
              </a:defRPr>
            </a:pPr>
            <a:r>
              <a:t>INVERSIÓN TOTAL DEL GRUPO (50 PAX INC. IGV):  USD $3,835.00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023360"/>
            <a:ext cx="10698480" cy="2011680"/>
          </a:xfrm>
          <a:prstGeom prst="roundRect">
            <a:avLst/>
          </a:prstGeom>
          <a:solidFill>
            <a:srgbClr val="1C2438"/>
          </a:solidFill>
          <a:ln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600">
                <a:solidFill>
                  <a:srgbClr val="D4A574"/>
                </a:solidFill>
              </a:defRPr>
            </a:pPr>
            <a:r>
              <a:t>Condiciones de Reserva &amp; Emisión de Comprobante</a:t>
            </a:r>
          </a:p>
          <a:p>
            <a:pPr>
              <a:defRPr sz="1300">
                <a:solidFill>
                  <a:srgbClr val="C8D2E1"/>
                </a:solidFill>
              </a:defRPr>
            </a:pPr>
            <a:r>
              <a:t>• Emisión de Factura o Boleta de Venta electrónica con IGV (18%) incluido.</a:t>
            </a:r>
          </a:p>
          <a:p>
            <a:pPr>
              <a:defRPr sz="1300">
                <a:solidFill>
                  <a:srgbClr val="C8D2E1"/>
                </a:solidFill>
              </a:defRPr>
            </a:pPr>
            <a:r>
              <a:t>• Reserva con el 50% de adelanto y confirmación de nómina final 7 días antes de la llegada.</a:t>
            </a:r>
          </a:p>
          <a:p>
            <a:pPr>
              <a:defRPr sz="1300">
                <a:solidFill>
                  <a:srgbClr val="C8D2E1"/>
                </a:solidFill>
              </a:defRPr>
            </a:pPr>
            <a:r>
              <a:t>• Cancelación sin penalidad hasta 10 días antes del inicio del servicio.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